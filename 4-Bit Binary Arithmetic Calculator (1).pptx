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/>
      <p:bold r:id="rId18"/>
    </p:embeddedFont>
    <p:embeddedFont>
      <p:font typeface="Space Grotesk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47000" y="461574"/>
            <a:ext cx="3038398" cy="523288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514168" y="3506985"/>
            <a:ext cx="8492920" cy="1781175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01281" y="3628104"/>
            <a:ext cx="45719" cy="15955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flipH="1">
            <a:off x="6711251" y="3628105"/>
            <a:ext cx="45719" cy="159552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61742" y="615496"/>
            <a:ext cx="257651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60A5FA"/>
                </a:solidFill>
                <a:latin typeface="Space Grotesk"/>
              </a:rPr>
              <a:t>DIGITAL LOGIC DESIGN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54" y="1324842"/>
            <a:ext cx="11251406" cy="1051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600" b="1" i="0" u="none" dirty="0">
                <a:solidFill>
                  <a:srgbClr val="FFFFFF"/>
                </a:solidFill>
                <a:latin typeface="Space Grotesk"/>
              </a:rPr>
              <a:t>4-Bit Binary Arithmetic Calculator Using </a:t>
            </a:r>
            <a:r>
              <a:rPr lang="en-IN" sz="3600" b="1" i="0" u="none" dirty="0">
                <a:solidFill>
                  <a:srgbClr val="FFFFFF"/>
                </a:solidFill>
                <a:latin typeface="Space Grotesk"/>
              </a:rPr>
              <a:t>Combinational </a:t>
            </a:r>
            <a:r>
              <a:rPr sz="3600" b="1" i="0" u="none" dirty="0">
                <a:solidFill>
                  <a:srgbClr val="FFFFFF"/>
                </a:solidFill>
                <a:latin typeface="Space Grotesk"/>
              </a:rPr>
              <a:t>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4259" y="2716392"/>
            <a:ext cx="572874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 u="none" dirty="0">
                <a:solidFill>
                  <a:srgbClr val="94A3B8"/>
                </a:solidFill>
                <a:latin typeface="Inter"/>
              </a:rPr>
              <a:t>Combinational 4-Bit Adder and Subtractor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8325" y="3701853"/>
            <a:ext cx="20531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94A3B8"/>
                </a:solidFill>
                <a:latin typeface="Inter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8325" y="3992525"/>
            <a:ext cx="2447925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F8FAFC"/>
                </a:solidFill>
                <a:latin typeface="Inter"/>
              </a:rPr>
              <a:t>2620030686 - K. Mokshagna Reddy</a:t>
            </a:r>
            <a:r>
              <a:rPr sz="1400" dirty="0"/>
              <a:t>
</a:t>
            </a:r>
            <a:r>
              <a:rPr sz="1400" b="0" i="0" u="none" dirty="0">
                <a:solidFill>
                  <a:srgbClr val="F8FAFC"/>
                </a:solidFill>
                <a:latin typeface="Inter"/>
              </a:rPr>
              <a:t>2620030213 - Shreyash</a:t>
            </a:r>
            <a:r>
              <a:rPr sz="1400" dirty="0"/>
              <a:t>
</a:t>
            </a:r>
            <a:r>
              <a:rPr sz="1400" b="0" i="0" u="none" dirty="0">
                <a:solidFill>
                  <a:srgbClr val="F8FAFC"/>
                </a:solidFill>
                <a:latin typeface="Inter"/>
              </a:rPr>
              <a:t>2620040121 - Shiva Shreyas</a:t>
            </a:r>
            <a:r>
              <a:rPr sz="1400" dirty="0"/>
              <a:t>
</a:t>
            </a:r>
            <a:r>
              <a:rPr sz="1400" b="0" i="0" u="none" dirty="0">
                <a:solidFill>
                  <a:srgbClr val="F8FAFC"/>
                </a:solidFill>
                <a:latin typeface="Inter"/>
              </a:rPr>
              <a:t>2620040058 - Deepak Vemulapalli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782" y="3699300"/>
            <a:ext cx="156185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94A3B8"/>
                </a:solidFill>
                <a:latin typeface="Inter"/>
              </a:rPr>
              <a:t>PROJECT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782" y="4051725"/>
            <a:ext cx="164987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F8FAFC"/>
                </a:solidFill>
                <a:latin typeface="Inter"/>
              </a:rPr>
              <a:t>Dr. Venkanna </a:t>
            </a:r>
            <a:r>
              <a:rPr sz="1400" b="0" i="0" u="none" dirty="0" err="1">
                <a:solidFill>
                  <a:srgbClr val="F8FAFC"/>
                </a:solidFill>
                <a:latin typeface="Inter"/>
              </a:rPr>
              <a:t>Isampalli</a:t>
            </a:r>
            <a:endParaRPr sz="1400" b="0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38254" y="3699299"/>
            <a:ext cx="213494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94A3B8"/>
                </a:solidFill>
                <a:latin typeface="Inter"/>
              </a:rPr>
              <a:t>DEPARTMENT &amp;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363" y="4030112"/>
            <a:ext cx="280769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F8FAFC"/>
                </a:solidFill>
                <a:latin typeface="Inter"/>
              </a:rPr>
              <a:t>Freshman Engineering | KLEF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97335"/>
            <a:ext cx="5372100" cy="2724150"/>
          </a:xfrm>
          <a:prstGeom prst="roundRect">
            <a:avLst>
              <a:gd name="adj" fmla="val 4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611635"/>
            <a:ext cx="5372100" cy="2495550"/>
          </a:xfrm>
          <a:prstGeom prst="roundRect">
            <a:avLst>
              <a:gd name="adj" fmla="val 4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11660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925960"/>
            <a:ext cx="2286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BACKGROUND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68860"/>
            <a:ext cx="6225778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Space Grotesk"/>
              </a:rPr>
              <a:t>Core Logic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4986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Binary arithmetic forms the essential computational foundation for modern microprocessors and Arithmetic Logic Units (ALUs).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221360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While advanced CPUs utilize integrated sequencers, fundamental addition and subtraction are executed strictly via combinational logic gates.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383160"/>
            <a:ext cx="5667375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Space Grotesk"/>
              </a:rPr>
              <a:t>Hardware-Direct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76416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This project constructs a standalone 4-bit adder-subtractor without reliance on microcontrollers or software programming.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33566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It demonstrates practical digital logic design by processing inputs instantly using hardware gate propagation.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99779"/>
            <a:ext cx="2628900" cy="1719262"/>
          </a:xfrm>
          <a:prstGeom prst="roundRect">
            <a:avLst>
              <a:gd name="adj" fmla="val 66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90900" y="2892623"/>
            <a:ext cx="26289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999779"/>
            <a:ext cx="2628900" cy="1719262"/>
          </a:xfrm>
          <a:prstGeom prst="roundRect">
            <a:avLst>
              <a:gd name="adj" fmla="val 66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500" y="2999779"/>
            <a:ext cx="2628900" cy="1719262"/>
          </a:xfrm>
          <a:prstGeom prst="roundRect">
            <a:avLst>
              <a:gd name="adj" fmla="val 66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237904"/>
            <a:ext cx="33337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29025" y="3130748"/>
            <a:ext cx="35242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10325" y="3237904"/>
            <a:ext cx="35242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91625" y="3237904"/>
            <a:ext cx="361950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PROJECT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3276004"/>
            <a:ext cx="238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542704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Circuit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37979"/>
            <a:ext cx="2247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Design a 4-bit binary calculator for addition and subtraction using fundamental logic gates.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275" y="3168848"/>
            <a:ext cx="257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3435548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Shared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3730823"/>
            <a:ext cx="22479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Implement 2's complement arithmetic to enable subtraction through shared adder circuits.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3276004"/>
            <a:ext cx="257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542704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Control 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837979"/>
            <a:ext cx="2247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Utilize XOR mode control and flip-flop staging for seamless operation switching.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6875" y="3276004"/>
            <a:ext cx="266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542704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3837979"/>
            <a:ext cx="2247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Simulate and test internal carry propagation and output flags across all 4-bit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35373"/>
            <a:ext cx="10972800" cy="638175"/>
          </a:xfrm>
          <a:prstGeom prst="roundRect">
            <a:avLst>
              <a:gd name="adj" fmla="val 179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87848"/>
            <a:ext cx="10972800" cy="638175"/>
          </a:xfrm>
          <a:prstGeom prst="roundRect">
            <a:avLst>
              <a:gd name="adj" fmla="val 179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40323"/>
            <a:ext cx="10972800" cy="638175"/>
          </a:xfrm>
          <a:prstGeom prst="roundRect">
            <a:avLst>
              <a:gd name="adj" fmla="val 179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292798"/>
            <a:ext cx="10972800" cy="638175"/>
          </a:xfrm>
          <a:prstGeom prst="roundRect">
            <a:avLst>
              <a:gd name="adj" fmla="val 179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5045273"/>
            <a:ext cx="10972800" cy="638175"/>
          </a:xfrm>
          <a:prstGeom prst="roundRect">
            <a:avLst>
              <a:gd name="adj" fmla="val 179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2197298"/>
            <a:ext cx="495300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2949773"/>
            <a:ext cx="523875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3702248"/>
            <a:ext cx="523875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4454723"/>
            <a:ext cx="523875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725" y="5207198"/>
            <a:ext cx="523875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ACADEMIC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Course Outcomes (COs)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2254448"/>
            <a:ext cx="3619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CO1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3525" y="2259210"/>
            <a:ext cx="5072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Apply Boolean algebra and logic gates to digital circuits.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006923"/>
            <a:ext cx="3905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CO2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100" y="3011685"/>
            <a:ext cx="4976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Design combinational circuits for a given specification.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759398"/>
            <a:ext cx="3905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CO3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2100" y="3764160"/>
            <a:ext cx="4536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Use flip-flops and counters for sequential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511873"/>
            <a:ext cx="3905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CO4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2100" y="4516635"/>
            <a:ext cx="4250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Simulate, test, and troubleshoot digital circuits.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5264348"/>
            <a:ext cx="3905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CO5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2100" y="5269110"/>
            <a:ext cx="48339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Inter"/>
              </a:rPr>
              <a:t>Explain the real-time application of digital electronics.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2592"/>
            <a:ext cx="353050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2506860"/>
            <a:ext cx="3530649" cy="1528762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2506860"/>
            <a:ext cx="3530500" cy="1528762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226123"/>
            <a:ext cx="3530500" cy="985837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600" y="4226123"/>
            <a:ext cx="3530649" cy="985837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750" y="4226123"/>
            <a:ext cx="3530500" cy="985837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04529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2768798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2768798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48806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4488060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875" y="4488060"/>
            <a:ext cx="1333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HARDWARE SPECIFICATIONS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Components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2880717"/>
            <a:ext cx="3748671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Power &amp; Clock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175992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5V DC Power 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447454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555 Timer IC / Clock Pulse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4475" y="2744985"/>
            <a:ext cx="3708861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Integrated Circuits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725" y="3040260"/>
            <a:ext cx="3817999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7483 4-Bit Binary Adder 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725" y="3311723"/>
            <a:ext cx="3817999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7486 Quad 2-Input XOR 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8725" y="3583185"/>
            <a:ext cx="3817999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JK/D Flip-Flops (7476 / CD4027)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200" y="2744985"/>
            <a:ext cx="358779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Basic Logic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9875" y="3040260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7408 AND Gate 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9875" y="3311723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7432 OR Gate 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875" y="3583185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7404 NOT Gate 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425" y="4464248"/>
            <a:ext cx="372866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Sequential Units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759523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IC 7493 Binary Counter (Optional)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7325" y="4464248"/>
            <a:ext cx="376886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Indicators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8725" y="4759523"/>
            <a:ext cx="3817999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Red, Yellow &amp; Green Output LEDs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8475" y="4464248"/>
            <a:ext cx="367352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Prototyping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9875" y="4759523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220Ω Resistors, Breadboard &amp; Wires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445323"/>
            <a:ext cx="10972800" cy="4095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445323"/>
            <a:ext cx="38100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63923"/>
            <a:ext cx="10972800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406848"/>
            <a:ext cx="4876800" cy="2343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Block Diagram &amp; Logisim Circuit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5559623"/>
            <a:ext cx="11391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Inter"/>
              </a:rPr>
              <a:t>Circuit Flow:</a:t>
            </a:r>
            <a:r>
              <a:rPr sz="1125" b="0" i="0" u="none">
                <a:solidFill>
                  <a:srgbClr val="1E3A8A"/>
                </a:solidFill>
                <a:latin typeface="Inter"/>
              </a:rPr>
              <a:t> Cascaded 4-bit full adders combined with XOR inversion logic for addition and 2's complement subtraction.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02110"/>
            <a:ext cx="3530500" cy="25146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2602110"/>
            <a:ext cx="3530649" cy="25146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2602110"/>
            <a:ext cx="3530500" cy="25146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2840235"/>
            <a:ext cx="105727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68725" y="2840235"/>
            <a:ext cx="1257300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89875" y="2840235"/>
            <a:ext cx="990600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OPERATIONAL MECHANICS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Circuit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2878335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Addition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45035"/>
            <a:ext cx="400870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Mode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440310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XOR gates pass bit vector $B$ unchanged.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30823"/>
            <a:ext cx="3817813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Initial carry-in $C_{in} = 0$.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21335"/>
            <a:ext cx="3149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Circuit performs standard binary addition: $S = A + B$.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975" y="2878335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Subtraction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725" y="3145035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Mode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725" y="344031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XOR gates invert input $B$ to 1's complement ($\bar{B}$).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725" y="3945135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Mode line supplies $C_{in} = 1$ to LSB stage.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725" y="4449960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Circuit executes 2's complement subtraction: $A + \bar{B} + 1 = A - B$.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125" y="2878335"/>
            <a:ext cx="895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Flag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875" y="3145035"/>
            <a:ext cx="390212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Carry &amp; Borrow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875" y="3440310"/>
            <a:ext cx="3149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$C_{out}$ from MSB stage drives carry output 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9875" y="3945135"/>
            <a:ext cx="3149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Indicates unsigned arithmetic overflow in addition.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9875" y="4449960"/>
            <a:ext cx="3149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Serves as borrow status flag during subtraction mode.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649860"/>
            <a:ext cx="13340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943695" y="3649860"/>
            <a:ext cx="11843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28069" y="3649860"/>
            <a:ext cx="11434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71516" y="3649860"/>
            <a:ext cx="2042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13586" y="3649860"/>
            <a:ext cx="6942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07869" y="3649860"/>
            <a:ext cx="2355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62926" y="3649860"/>
            <a:ext cx="221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030860"/>
            <a:ext cx="13340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43695" y="4030860"/>
            <a:ext cx="11843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28069" y="4030860"/>
            <a:ext cx="11434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1516" y="4030860"/>
            <a:ext cx="2042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13586" y="4030860"/>
            <a:ext cx="6942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07869" y="4030860"/>
            <a:ext cx="2355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62926" y="4030860"/>
            <a:ext cx="221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411860"/>
            <a:ext cx="13340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43695" y="4411860"/>
            <a:ext cx="11843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28069" y="4411860"/>
            <a:ext cx="11434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1516" y="4411860"/>
            <a:ext cx="2042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13586" y="4411860"/>
            <a:ext cx="6942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07869" y="4411860"/>
            <a:ext cx="2355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62926" y="4411860"/>
            <a:ext cx="221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600" y="4792860"/>
            <a:ext cx="13340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43695" y="4792860"/>
            <a:ext cx="11843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28069" y="4792860"/>
            <a:ext cx="11434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71516" y="4792860"/>
            <a:ext cx="2042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13586" y="4792860"/>
            <a:ext cx="6942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07869" y="4792860"/>
            <a:ext cx="2355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62926" y="4792860"/>
            <a:ext cx="22194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09600" y="2911673"/>
          <a:ext cx="10972797" cy="1895475"/>
        </p:xfrm>
        <a:graphic>
          <a:graphicData uri="http://schemas.openxmlformats.org/drawingml/2006/table">
            <a:tbl>
              <a:tblPr/>
              <a:tblGrid>
                <a:gridCol w="1334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2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5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94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Mode (M)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A [3:0]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B [3:0]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Effective B 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Cin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Result Sum [3:0]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Cout / Borrow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0 (ADD)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0101 (5)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0011 (3)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0011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1000 (8)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0 (ADD)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1100 (12)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0101 (5)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0001 (17-16)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 (Carry Set)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1 (SUB)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0111 (7)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0010 (2)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1101 (~B)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0101 (5)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 (No Borrow)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1 (SUB)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0100 (4)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0110 (6)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1001 (~B)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1110 (-2 in 2's Comp)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 (Borrow Needed)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FUNCTIONAL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Truth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5948"/>
            <a:ext cx="537210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75979"/>
            <a:ext cx="5372100" cy="1566862"/>
          </a:xfrm>
          <a:prstGeom prst="roundRect">
            <a:avLst>
              <a:gd name="adj" fmla="val 72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397448"/>
            <a:ext cx="4895850" cy="12573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BOOLEAN FORMULATIONS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064073"/>
            <a:ext cx="6425803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Full Adder Stage i Equations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314104"/>
            <a:ext cx="57435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Gate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609379"/>
            <a:ext cx="57435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XOR Gates (7486):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Mode inversion array and sum computation.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899892"/>
            <a:ext cx="57435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AND Gates (7408):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Partial product carry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4190404"/>
            <a:ext cx="57435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OR Gates (7432):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Carry propagation network assembly.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559373"/>
            <a:ext cx="571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monospace"/>
              </a:rPr>
              <a:t>B_effective_i = B_i ⊕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3835598"/>
            <a:ext cx="571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monospace"/>
              </a:rPr>
              <a:t>Sum_i = A_i ⊕ B_effective_i ⊕ C_i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111823"/>
            <a:ext cx="4667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monospace"/>
              </a:rPr>
              <a:t>C_(i+1) = (A_i · B_eff_i) + (C_i · (A_i ⊕ B_eff_i))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8835"/>
            <a:ext cx="35305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2961679"/>
            <a:ext cx="3530649" cy="1795462"/>
          </a:xfrm>
          <a:prstGeom prst="roundRect">
            <a:avLst>
              <a:gd name="adj" fmla="val 63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3068835"/>
            <a:ext cx="35305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06960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3199804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330696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TESTING &amp;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Simulation /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87960"/>
            <a:ext cx="400870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Software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83235"/>
            <a:ext cx="3149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Simulated using Logisim, Multisim, and Tinkercad digital test benches.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725" y="3580804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Hardware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725" y="3876079"/>
            <a:ext cx="31496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Breadboard prototype wired using standard 74xx series ICs and current-limiting resistors.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9875" y="3687960"/>
            <a:ext cx="390212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Verification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9875" y="3983235"/>
            <a:ext cx="3149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Validated all 16 addition and subtraction corner cases against theoretical truth 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44960"/>
            <a:ext cx="537210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544960"/>
            <a:ext cx="537210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73710"/>
            <a:ext cx="537210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973710"/>
            <a:ext cx="537210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06898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806898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35648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235648"/>
            <a:ext cx="1524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SYSTEM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2783085"/>
            <a:ext cx="6145768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Hardware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7836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Low-cost execution with minimal chip count using basic 74xx series 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2783085"/>
            <a:ext cx="542925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Zero Software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07836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Pure hardware logic operation without requiring firmware, microcontrollers, or clocks.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211835"/>
            <a:ext cx="6095761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Educational Clarity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50711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Provides transparent insight into low-level ALU operation and binary arithmetic.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75" y="4211835"/>
            <a:ext cx="549592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Modularity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50711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Cascading structure allows simple expansion to 8-bit, 16-bit, or wider word sizes.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59335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3259335"/>
            <a:ext cx="3530649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3259335"/>
            <a:ext cx="353050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521273"/>
            <a:ext cx="1333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3521273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3521273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DESIGN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497460"/>
            <a:ext cx="376867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Propagation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792735"/>
            <a:ext cx="3149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Ripple carry propagation introduces gate delays as word size scales 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5425" y="3497460"/>
            <a:ext cx="372886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Fixed Bit-Width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725" y="3792735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Restricted to 4-bit operands (-8 to +7 signed / 0 to 15 unsigned range).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6575" y="3497460"/>
            <a:ext cx="363542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Function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9875" y="3792735"/>
            <a:ext cx="3149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Handles addition and subtraction only; multiplication requires extra external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75979"/>
            <a:ext cx="5372100" cy="1566862"/>
          </a:xfrm>
          <a:prstGeom prst="roundRect">
            <a:avLst>
              <a:gd name="adj" fmla="val 72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68823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37917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230760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HORIZON &amp;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Applications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314104"/>
            <a:ext cx="6145768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Real-World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09379"/>
            <a:ext cx="611981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Core building block for CPU Arithmetic Logic Units (ALUs).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99892"/>
            <a:ext cx="611981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Educational digital logic demonstration platform in academic labs.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90404"/>
            <a:ext cx="611981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Embedded hardware address counters and incrementers.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3206948"/>
            <a:ext cx="54768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502223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Upgrade to Carry Lookahead Adders (CLA) to reduce propagation delay.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007048"/>
            <a:ext cx="57435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Expand functionality to support bitwise AND, OR, and XOR operations.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297560"/>
            <a:ext cx="57435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Interfacing with 7-segment displays for direct decimal output readout.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4615"/>
            <a:ext cx="10972800" cy="1969591"/>
          </a:xfrm>
          <a:prstGeom prst="roundRect">
            <a:avLst>
              <a:gd name="adj" fmla="val 580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3188940"/>
            <a:ext cx="11268075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Space Grotesk"/>
              </a:rPr>
              <a:t>Project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69940"/>
            <a:ext cx="11268075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E40AF"/>
                </a:solidFill>
                <a:latin typeface="Inter"/>
              </a:rPr>
              <a:t>• A 4-bit binary calculator was successfully designed and verified using basic logic gates and full adder stages.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28020"/>
            <a:ext cx="11268075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E40AF"/>
                </a:solidFill>
                <a:latin typeface="Inter"/>
              </a:rPr>
              <a:t>• The system seamlessly executes addition and 2's complement subtraction using a single XOR mode control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286101"/>
            <a:ext cx="11268075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E40AF"/>
                </a:solidFill>
                <a:latin typeface="Inter"/>
              </a:rPr>
              <a:t>• Provides a complete foundational model for hardware-level arithmetic computation in modern computer architecture.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9317"/>
            <a:ext cx="5372100" cy="1500187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75979"/>
            <a:ext cx="5372100" cy="1566862"/>
          </a:xfrm>
          <a:prstGeom prst="roundRect">
            <a:avLst>
              <a:gd name="adj" fmla="val 72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47442"/>
            <a:ext cx="2190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337917"/>
            <a:ext cx="219075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DOCUMENTATION &amp;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347442"/>
            <a:ext cx="6095761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 Repository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52242"/>
            <a:ext cx="611981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Link: </a:t>
            </a:r>
            <a:r>
              <a:rPr sz="1125" b="1" i="0" u="none">
                <a:solidFill>
                  <a:srgbClr val="2563EB"/>
                </a:solidFill>
                <a:latin typeface="Inter"/>
              </a:rPr>
              <a:t>https://github.com/V-Shreyash213/DDCA-Project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942754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Contents: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Schematics, Logisim files, project report, presentation, and setup README.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0" y="3314104"/>
            <a:ext cx="542925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pace Grotesk"/>
              </a:rPr>
              <a:t>Team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609379"/>
            <a:ext cx="57435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Circuit design and schematic drafting.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899892"/>
            <a:ext cx="57435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Software simulation and truth table validation.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190404"/>
            <a:ext cx="57435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Breadboard implementation and slide deck preparation.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0" y="4391025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64408" y="2419350"/>
            <a:ext cx="5463182" cy="1076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600" b="1" i="0" u="none">
                <a:solidFill>
                  <a:srgbClr val="FFFFFF"/>
                </a:solidFill>
                <a:latin typeface="Space Grotesk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6718" y="3686175"/>
            <a:ext cx="373856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94A3B8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1090</Words>
  <Application>Microsoft Office PowerPoint</Application>
  <PresentationFormat>Widescreen</PresentationFormat>
  <Paragraphs>182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Space Grotesk</vt:lpstr>
      <vt:lpstr>Inter</vt:lpstr>
      <vt:lpstr>monospace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Shreyash Vojjala</cp:lastModifiedBy>
  <cp:revision>3</cp:revision>
  <dcterms:created xsi:type="dcterms:W3CDTF">2013-01-27T09:14:16Z</dcterms:created>
  <dcterms:modified xsi:type="dcterms:W3CDTF">2026-10-15T03:20:10Z</dcterms:modified>
  <cp:category/>
</cp:coreProperties>
</file>